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320040"/>
            <a:ext cx="1920240" cy="1920240"/>
          </a:xfrm>
          <a:prstGeom prst="ellipse">
            <a:avLst/>
          </a:prstGeom>
          <a:solidFill>
            <a:srgbClr val="2A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44200" y="1188720"/>
            <a:ext cx="914400" cy="914400"/>
          </a:xfrm>
          <a:prstGeom prst="ellipse">
            <a:avLst/>
          </a:prstGeom>
          <a:solidFill>
            <a:srgbClr val="4A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5303520"/>
            <a:ext cx="2743200" cy="2743200"/>
          </a:xfrm>
          <a:prstGeom prst="ellipse">
            <a:avLst/>
          </a:prstGeom>
          <a:solidFill>
            <a:srgbClr val="1C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96C8E1"/>
                </a:solidFill>
                <a:latin typeface="Aptos"/>
              </a:rPr>
              <a:t>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6949440" cy="1508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Analisis Data
Prakiraan Cuaca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337560"/>
            <a:ext cx="71323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CDDCE8"/>
                </a:solidFill>
                <a:latin typeface="Aptos"/>
              </a:rPr>
              <a:t>Pengambilan data • Cleaning • Struktur dataset • Kesimpulan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440680"/>
            <a:ext cx="7772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A0B9CD"/>
                </a:solidFill>
                <a:latin typeface="Aptos"/>
              </a:rPr>
              <a:t>WeatherAPI.com  |  5 kota di Indonesia  |  360 data per jam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D2DCE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32238"/>
                </a:solidFill>
                <a:latin typeface="Aptos"/>
              </a:rPr>
              <a:t>1. Sumber &amp; Cakupan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515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Data dikumpulkan dari API cuaca dan disusun menjadi dataset terstruktur.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9659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73152" cy="1325880"/>
          </a:xfrm>
          <a:prstGeom prst="rect">
            <a:avLst/>
          </a:prstGeom>
          <a:solidFill>
            <a:srgbClr val="2A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47088"/>
            <a:ext cx="1554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450592"/>
            <a:ext cx="155448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Jakarta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600200"/>
            <a:ext cx="19659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98648" y="1600200"/>
            <a:ext cx="73152" cy="1325880"/>
          </a:xfrm>
          <a:prstGeom prst="rect">
            <a:avLst/>
          </a:prstGeom>
          <a:solidFill>
            <a:srgbClr val="4A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847088"/>
            <a:ext cx="1554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450592"/>
            <a:ext cx="155448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Bandung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496" y="1600200"/>
            <a:ext cx="19659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11496" y="1600200"/>
            <a:ext cx="73152" cy="1325880"/>
          </a:xfrm>
          <a:prstGeom prst="rect">
            <a:avLst/>
          </a:prstGeom>
          <a:solidFill>
            <a:srgbClr val="2A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1847088"/>
            <a:ext cx="1554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450592"/>
            <a:ext cx="155448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Surabaya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24344" y="1600200"/>
            <a:ext cx="19659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24344" y="1600200"/>
            <a:ext cx="73152" cy="1325880"/>
          </a:xfrm>
          <a:prstGeom prst="rect">
            <a:avLst/>
          </a:prstGeom>
          <a:solidFill>
            <a:srgbClr val="4A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0375" y="1847088"/>
            <a:ext cx="1554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0375" y="2450592"/>
            <a:ext cx="155448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Yogyakarta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37192" y="1600200"/>
            <a:ext cx="19659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37192" y="1600200"/>
            <a:ext cx="73152" cy="1325880"/>
          </a:xfrm>
          <a:prstGeom prst="rect">
            <a:avLst/>
          </a:prstGeom>
          <a:solidFill>
            <a:srgbClr val="2A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93224" y="1847088"/>
            <a:ext cx="1554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3224" y="2450592"/>
            <a:ext cx="155448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Denpasar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337560"/>
            <a:ext cx="3246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337560"/>
            <a:ext cx="73152" cy="1417320"/>
          </a:xfrm>
          <a:prstGeom prst="rect">
            <a:avLst/>
          </a:prstGeom>
          <a:solidFill>
            <a:srgbClr val="2A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3584448"/>
            <a:ext cx="2834639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Aptos"/>
              </a:rPr>
              <a:t>WeatherAPI.com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4187952"/>
            <a:ext cx="2834639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Sumber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87952" y="3337560"/>
            <a:ext cx="3246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87952" y="3337560"/>
            <a:ext cx="73152" cy="1417320"/>
          </a:xfrm>
          <a:prstGeom prst="rect">
            <a:avLst/>
          </a:prstGeom>
          <a:solidFill>
            <a:srgbClr val="2A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3984" y="3584448"/>
            <a:ext cx="2834639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Aptos"/>
              </a:rPr>
              <a:t>/forecast.json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4" y="4187952"/>
            <a:ext cx="2834639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Endpoint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90104" y="3337560"/>
            <a:ext cx="3246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90104" y="3337560"/>
            <a:ext cx="73152" cy="1417320"/>
          </a:xfrm>
          <a:prstGeom prst="rect">
            <a:avLst/>
          </a:prstGeom>
          <a:solidFill>
            <a:srgbClr val="2A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46136" y="3584448"/>
            <a:ext cx="2834639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Aptos"/>
              </a:rPr>
              <a:t>Per jam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46136" y="4187952"/>
            <a:ext cx="2834639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Jenis prakiraan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257800"/>
            <a:ext cx="50292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32238"/>
                </a:solidFill>
                <a:latin typeface="Aptos"/>
              </a:rPr>
              <a:t>Total dataset: 360 baris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806440"/>
            <a:ext cx="98755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97682"/>
                </a:solidFill>
                <a:latin typeface="Aptos"/>
              </a:rPr>
              <a:t>Mencakup informasi lokasi, waktu, suhu, hujan, kelembapan, angin, tekanan, awan, dan UV.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185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9768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32238"/>
                </a:solidFill>
                <a:latin typeface="Aptos"/>
              </a:rPr>
              <a:t>2. Alur Pengolahan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515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Dari API hingga dataset siap digunakan.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42316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A68A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828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32238"/>
                </a:solidFill>
                <a:latin typeface="Aptos"/>
              </a:rPr>
              <a:t>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1874519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Mengirim request ke WeatherAPI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2606040"/>
            <a:ext cx="365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4A9D91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42316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05740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A68A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560320"/>
            <a:ext cx="1828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32238"/>
                </a:solidFill>
                <a:latin typeface="Aptos"/>
              </a:rPr>
              <a:t>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154680"/>
            <a:ext cx="1874519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Mengambil prakiraan cuaca per jam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606040"/>
            <a:ext cx="365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4A9D9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242316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A68A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1828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32238"/>
                </a:solidFill>
                <a:latin typeface="Aptos"/>
              </a:rPr>
              <a:t>Tabel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54680"/>
            <a:ext cx="1874519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Mengubah respons API menjadi tabel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2606040"/>
            <a:ext cx="365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4A9D91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1828800"/>
            <a:ext cx="242316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59" y="205740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A68A0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2560320"/>
            <a:ext cx="1828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32238"/>
                </a:solidFill>
                <a:latin typeface="Aptos"/>
              </a:rPr>
              <a:t>Cleaning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154680"/>
            <a:ext cx="1874519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Memeriksa duplikasi &amp; kondisi kosong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00600"/>
            <a:ext cx="5029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32238"/>
                </a:solidFill>
                <a:latin typeface="Aptos"/>
              </a:rPr>
              <a:t>Class utama: KlienWeatherAPI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57800"/>
            <a:ext cx="71323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97682"/>
                </a:solidFill>
                <a:latin typeface="Aptos"/>
              </a:rPr>
              <a:t>_request()  •  ambil_forecast()  •  forecast_ke_tabel()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9768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32238"/>
                </a:solidFill>
                <a:latin typeface="Aptos"/>
              </a:rPr>
              <a:t>3. Proses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515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Cleaning dilakukan untuk memastikan dataset lebih konsisten sebelum dianalisis.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315468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73152" cy="1508760"/>
          </a:xfrm>
          <a:prstGeom prst="rect">
            <a:avLst/>
          </a:prstGeom>
          <a:solidFill>
            <a:srgbClr val="2A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892808"/>
            <a:ext cx="27432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Aptos"/>
              </a:rPr>
              <a:t>360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496312"/>
            <a:ext cx="27432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Baris sebelum cleaning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45920"/>
            <a:ext cx="315468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645920"/>
            <a:ext cx="73152" cy="1508760"/>
          </a:xfrm>
          <a:prstGeom prst="rect">
            <a:avLst/>
          </a:prstGeom>
          <a:solidFill>
            <a:srgbClr val="4A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892808"/>
            <a:ext cx="27432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Aptos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496312"/>
            <a:ext cx="27432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Baris kembar dibuang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645920"/>
            <a:ext cx="315468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645920"/>
            <a:ext cx="73152" cy="1508760"/>
          </a:xfrm>
          <a:prstGeom prst="rect">
            <a:avLst/>
          </a:prstGeom>
          <a:solidFill>
            <a:srgbClr val="2A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1892808"/>
            <a:ext cx="27432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Aptos"/>
              </a:rPr>
              <a:t>360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496312"/>
            <a:ext cx="27432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Baris dataset akhir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10652760" cy="141732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05072"/>
            <a:ext cx="3840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32238"/>
                </a:solidFill>
                <a:latin typeface="Aptos"/>
              </a:rPr>
              <a:t>Penanganan kondisi kosong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462272"/>
            <a:ext cx="9052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97682"/>
                </a:solidFill>
                <a:latin typeface="Aptos"/>
              </a:rPr>
              <a:t>Data kondisi yang kosong diberi penanda agar tetap tercatat dan tidak menghilangkan baris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23560"/>
            <a:ext cx="5486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A68A0"/>
                </a:solidFill>
                <a:latin typeface="Aptos"/>
              </a:rPr>
              <a:t>Function cleaning:  bersihkan_kondisi()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9768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32238"/>
                </a:solidFill>
                <a:latin typeface="Aptos"/>
              </a:rPr>
              <a:t>4. Struktur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515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16 kolom menggambarkan kondisi cuaca secara cukup lengkap.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3375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32238"/>
                </a:solidFill>
                <a:latin typeface="Aptos"/>
              </a:rPr>
              <a:t>Lokasi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78892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20" b="0">
                <a:solidFill>
                  <a:srgbClr val="697682"/>
                </a:solidFill>
                <a:latin typeface="Aptos"/>
              </a:rPr>
              <a:t>Lokasi • Negara
Latitude • Longitude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3375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01368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32238"/>
                </a:solidFill>
                <a:latin typeface="Aptos"/>
              </a:rPr>
              <a:t>Waktu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78892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20" b="0">
                <a:solidFill>
                  <a:srgbClr val="697682"/>
                </a:solidFill>
                <a:latin typeface="Aptos"/>
              </a:rPr>
              <a:t>Tanggal • Waktu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600200"/>
            <a:ext cx="33375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801368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32238"/>
                </a:solidFill>
                <a:latin typeface="Aptos"/>
              </a:rPr>
              <a:t>Suhu &amp; Kondisi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86000"/>
            <a:ext cx="278892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20" b="0">
                <a:solidFill>
                  <a:srgbClr val="697682"/>
                </a:solidFill>
                <a:latin typeface="Aptos"/>
              </a:rPr>
              <a:t>Suhu_C • Terasa_C • Kondisi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33375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67328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32238"/>
                </a:solidFill>
                <a:latin typeface="Aptos"/>
              </a:rPr>
              <a:t>Hujan &amp; Kelembapan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278892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20" b="0">
                <a:solidFill>
                  <a:srgbClr val="697682"/>
                </a:solidFill>
                <a:latin typeface="Aptos"/>
              </a:rPr>
              <a:t>Kelembapan_pct
Peluang_Hujan_pct • Curah_Hujan_mm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66160"/>
            <a:ext cx="33375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767328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32238"/>
                </a:solidFill>
                <a:latin typeface="Aptos"/>
              </a:rPr>
              <a:t>Angin &amp; Tekanan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251960"/>
            <a:ext cx="278892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20" b="0">
                <a:solidFill>
                  <a:srgbClr val="697682"/>
                </a:solidFill>
                <a:latin typeface="Aptos"/>
              </a:rPr>
              <a:t>Kecepatan_Angin_kph • Tekanan_mb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3566160"/>
            <a:ext cx="33375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767328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32238"/>
                </a:solidFill>
                <a:latin typeface="Aptos"/>
              </a:rPr>
              <a:t>Lingkungan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251960"/>
            <a:ext cx="278892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20" b="0">
                <a:solidFill>
                  <a:srgbClr val="697682"/>
                </a:solidFill>
                <a:latin typeface="Aptos"/>
              </a:rPr>
              <a:t>Tutupan_Awan_pct • UV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9768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5. Hasil Akhir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515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Dataset siap digunakan untuk eksplorasi dan analisis lebih lanjut.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698480" cy="3429000"/>
          </a:xfrm>
          <a:prstGeom prst="roundRect">
            <a:avLst/>
          </a:prstGeom>
          <a:solidFill>
            <a:srgbClr val="1D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8288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360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B4CDDE"/>
                </a:solidFill>
                <a:latin typeface="Aptos"/>
              </a:rPr>
              <a:t>baris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011680"/>
            <a:ext cx="18288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69748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B4CDDE"/>
                </a:solidFill>
                <a:latin typeface="Aptos"/>
              </a:rPr>
              <a:t>kolom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011680"/>
            <a:ext cx="18288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69748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B4CDDE"/>
                </a:solidFill>
                <a:latin typeface="Aptos"/>
              </a:rPr>
              <a:t>kota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011680"/>
            <a:ext cx="11887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800" b="1">
                <a:solidFill>
                  <a:srgbClr val="4A9D91"/>
                </a:solidFill>
                <a:latin typeface="Apto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2697480"/>
            <a:ext cx="15544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B4CDDE"/>
                </a:solidFill>
                <a:latin typeface="Aptos"/>
              </a:rPr>
              <a:t>duplikasi dibuang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86200"/>
            <a:ext cx="8961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Dataset berhasil dipertahankan utuh setelah cleaning.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70832"/>
            <a:ext cx="8961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BED2E1"/>
                </a:solidFill>
                <a:latin typeface="Aptos"/>
              </a:rPr>
              <a:t>Data telah memiliki struktur yang konsisten dan dapat menjadi dasar untuk analisis pola cuaca.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D2DCE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32238"/>
                </a:solidFill>
                <a:latin typeface="Aptos"/>
              </a:rPr>
              <a:t>6. 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515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97682"/>
                </a:solidFill>
                <a:latin typeface="Aptos"/>
              </a:rPr>
              <a:t>Ringkasan dari proses pengambilan data hingga hasil akhir.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A68A0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572768"/>
            <a:ext cx="53035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32238"/>
                </a:solidFill>
                <a:latin typeface="Aptos"/>
              </a:rPr>
              <a:t>Data cuaca berhasil dikumpulkan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29967"/>
            <a:ext cx="93268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97682"/>
                </a:solidFill>
                <a:latin typeface="Aptos"/>
              </a:rPr>
              <a:t>360 data prakiraan per jam dari 5 kota di Indonesia.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2679191"/>
            <a:ext cx="9692640" cy="9144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53512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A68A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26080"/>
            <a:ext cx="53035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32238"/>
                </a:solidFill>
                <a:latin typeface="Aptos"/>
              </a:rPr>
              <a:t>Cleaning tidak mengurangi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83280"/>
            <a:ext cx="93268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97682"/>
                </a:solidFill>
                <a:latin typeface="Aptos"/>
              </a:rPr>
              <a:t>Tidak ditemukan baris duplikat; total tetap 360 baris.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4032504"/>
            <a:ext cx="9692640" cy="9144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306824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A68A0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279392"/>
            <a:ext cx="53035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32238"/>
                </a:solidFill>
                <a:latin typeface="Aptos"/>
              </a:rPr>
              <a:t>Data siap dianalisis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736592"/>
            <a:ext cx="93268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97682"/>
                </a:solidFill>
                <a:latin typeface="Aptos"/>
              </a:rPr>
              <a:t>Dataset memiliki 16 variabel yang mencakup berbagai aspek cuaca.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715000"/>
            <a:ext cx="10515600" cy="548640"/>
          </a:xfrm>
          <a:prstGeom prst="roundRect">
            <a:avLst/>
          </a:prstGeom>
          <a:solidFill>
            <a:srgbClr val="E0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833872"/>
            <a:ext cx="10058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1">
                <a:solidFill>
                  <a:srgbClr val="132238"/>
                </a:solidFill>
                <a:latin typeface="Aptos"/>
              </a:rPr>
              <a:t>Next step: eksplorasi pola suhu, hujan, kelembapan, angin, dan UV.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9768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